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</p:sldMasterIdLst>
  <p:notesMasterIdLst>
    <p:notesMasterId r:id="rId34"/>
  </p:notesMasterIdLst>
  <p:handoutMasterIdLst>
    <p:handoutMasterId r:id="rId35"/>
  </p:handoutMasterIdLst>
  <p:sldIdLst>
    <p:sldId id="1918" r:id="rId2"/>
    <p:sldId id="258" r:id="rId3"/>
    <p:sldId id="1972" r:id="rId4"/>
    <p:sldId id="1973" r:id="rId5"/>
    <p:sldId id="1974" r:id="rId6"/>
    <p:sldId id="1975" r:id="rId7"/>
    <p:sldId id="1976" r:id="rId8"/>
    <p:sldId id="1977" r:id="rId9"/>
    <p:sldId id="1978" r:id="rId10"/>
    <p:sldId id="1979" r:id="rId11"/>
    <p:sldId id="1980" r:id="rId12"/>
    <p:sldId id="1981" r:id="rId13"/>
    <p:sldId id="1982" r:id="rId14"/>
    <p:sldId id="1983" r:id="rId15"/>
    <p:sldId id="1984" r:id="rId16"/>
    <p:sldId id="1985" r:id="rId17"/>
    <p:sldId id="1986" r:id="rId18"/>
    <p:sldId id="1987" r:id="rId19"/>
    <p:sldId id="1988" r:id="rId20"/>
    <p:sldId id="1989" r:id="rId21"/>
    <p:sldId id="1990" r:id="rId22"/>
    <p:sldId id="1991" r:id="rId23"/>
    <p:sldId id="1992" r:id="rId24"/>
    <p:sldId id="1993" r:id="rId25"/>
    <p:sldId id="1994" r:id="rId26"/>
    <p:sldId id="1995" r:id="rId27"/>
    <p:sldId id="1996" r:id="rId28"/>
    <p:sldId id="1997" r:id="rId29"/>
    <p:sldId id="1998" r:id="rId30"/>
    <p:sldId id="1999" r:id="rId31"/>
    <p:sldId id="2000" r:id="rId32"/>
    <p:sldId id="2001" r:id="rId3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17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354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532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709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5886" algn="l" defTabSz="457178" rtl="0" eaLnBrk="1" latinLnBrk="0" hangingPunct="1"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062" algn="l" defTabSz="457178" rtl="0" eaLnBrk="1" latinLnBrk="0" hangingPunct="1"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240" algn="l" defTabSz="457178" rtl="0" eaLnBrk="1" latinLnBrk="0" hangingPunct="1"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418" algn="l" defTabSz="457178" rtl="0" eaLnBrk="1" latinLnBrk="0" hangingPunct="1">
      <a:defRPr sz="16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46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1CFF"/>
    <a:srgbClr val="404040"/>
    <a:srgbClr val="585959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45" autoAdjust="0"/>
    <p:restoredTop sz="81096"/>
  </p:normalViewPr>
  <p:slideViewPr>
    <p:cSldViewPr>
      <p:cViewPr varScale="1">
        <p:scale>
          <a:sx n="59" d="100"/>
          <a:sy n="59" d="100"/>
        </p:scale>
        <p:origin x="636" y="78"/>
      </p:cViewPr>
      <p:guideLst>
        <p:guide orient="horz" pos="2064"/>
        <p:guide pos="46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71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9FC81DA-D82C-D248-96DA-971BAA9C8F3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52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0D4404-C563-6B43-A824-459A163A63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559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17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35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53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70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5886" algn="l" defTabSz="4571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>
                <a:solidFill>
                  <a:srgbClr val="000000"/>
                </a:solidFill>
              </a:rPr>
              <a:pPr eaLnBrk="1" hangingPunct="1"/>
              <a:t>1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641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794197A-909D-6248-B44E-761B541FFA90}" type="slidenum">
              <a:rPr lang="en-US" sz="1200"/>
              <a:pPr eaLnBrk="1" hangingPunct="1"/>
              <a:t>2</a:t>
            </a:fld>
            <a:endParaRPr lang="en-US" sz="1200"/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924938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59603"/>
            <a:ext cx="10058400" cy="907196"/>
          </a:xfrm>
        </p:spPr>
        <p:txBody>
          <a:bodyPr/>
          <a:lstStyle>
            <a:lvl1pPr>
              <a:defRPr sz="4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5" y="1600200"/>
            <a:ext cx="10058401" cy="4572000"/>
          </a:xfrm>
        </p:spPr>
        <p:txBody>
          <a:bodyPr/>
          <a:lstStyle>
            <a:lvl1pPr marL="7938" indent="-7938">
              <a:buNone/>
              <a:tabLst/>
              <a:defRPr sz="2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04783" indent="-253982">
              <a:tabLst/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515899" indent="-228584">
              <a:tabLst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90512" indent="-265093">
              <a:tabLst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801628" indent="-239695">
              <a:tabLst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7" y="6705607"/>
            <a:ext cx="4822804" cy="119311"/>
          </a:xfrm>
        </p:spPr>
        <p:txBody>
          <a:bodyPr/>
          <a:lstStyle>
            <a:lvl1pPr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Slides adapted from Jure </a:t>
            </a:r>
            <a:r>
              <a:rPr lang="en-US" dirty="0" err="1"/>
              <a:t>Leskovec</a:t>
            </a:r>
            <a:endParaRPr lang="en-US" sz="525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55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59603"/>
            <a:ext cx="10058400" cy="907196"/>
          </a:xfrm>
        </p:spPr>
        <p:txBody>
          <a:bodyPr/>
          <a:lstStyle>
            <a:lvl1pPr>
              <a:defRPr sz="4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5" y="1600200"/>
            <a:ext cx="10058401" cy="4572000"/>
          </a:xfrm>
        </p:spPr>
        <p:txBody>
          <a:bodyPr/>
          <a:lstStyle>
            <a:lvl1pPr marL="7938" indent="-7938">
              <a:buNone/>
              <a:tabLst/>
              <a:defRPr sz="28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4783" indent="-253982">
              <a:tabLst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15899" indent="-228584">
              <a:tabLst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90512" indent="-265093"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1628" indent="-239695">
              <a:tabLst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7" y="6705607"/>
            <a:ext cx="4822804" cy="119311"/>
          </a:xfrm>
        </p:spPr>
        <p:txBody>
          <a:bodyPr/>
          <a:lstStyle>
            <a:lvl1pPr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Slides adapted from Jure </a:t>
            </a:r>
            <a:r>
              <a:rPr lang="en-US" dirty="0" err="1"/>
              <a:t>Leskovec</a:t>
            </a:r>
            <a:endParaRPr lang="en-US" sz="525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55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43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3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6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874" indent="0">
              <a:buNone/>
              <a:defRPr sz="1500" b="1"/>
            </a:lvl2pPr>
            <a:lvl3pPr marL="685750" indent="0">
              <a:buNone/>
              <a:defRPr sz="1351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2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6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874" indent="0">
              <a:buNone/>
              <a:defRPr sz="1500" b="1"/>
            </a:lvl2pPr>
            <a:lvl3pPr marL="685750" indent="0">
              <a:buNone/>
              <a:defRPr sz="1351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2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2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6400" y="1671641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400" y="2311400"/>
            <a:ext cx="5386917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173" y="1671641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173" y="2311400"/>
            <a:ext cx="5389033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8331200" y="6273800"/>
            <a:ext cx="2641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273800"/>
            <a:ext cx="38608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3398521" y="3398527"/>
            <a:ext cx="6858001" cy="6095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800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28800" y="508000"/>
            <a:ext cx="99568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262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5" y="731520"/>
            <a:ext cx="6679191" cy="5257800"/>
          </a:xfrm>
        </p:spPr>
        <p:txBody>
          <a:bodyPr/>
          <a:lstStyle>
            <a:lvl1pPr>
              <a:defRPr sz="3200" baseline="0">
                <a:solidFill>
                  <a:schemeClr val="accent2"/>
                </a:solidFill>
              </a:defRPr>
            </a:lvl1pPr>
            <a:lvl2pPr>
              <a:defRPr sz="2800" baseline="0">
                <a:solidFill>
                  <a:schemeClr val="accent2"/>
                </a:solidFill>
              </a:defRPr>
            </a:lvl2pPr>
            <a:lvl3pPr>
              <a:defRPr sz="2400" baseline="0">
                <a:solidFill>
                  <a:schemeClr val="accent2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3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874" indent="0">
              <a:buNone/>
              <a:defRPr sz="900"/>
            </a:lvl2pPr>
            <a:lvl3pPr marL="685750" indent="0">
              <a:buNone/>
              <a:defRPr sz="751"/>
            </a:lvl3pPr>
            <a:lvl4pPr marL="1028624" indent="0">
              <a:buNone/>
              <a:defRPr sz="675"/>
            </a:lvl4pPr>
            <a:lvl5pPr marL="1371498" indent="0">
              <a:buNone/>
              <a:defRPr sz="675"/>
            </a:lvl5pPr>
            <a:lvl6pPr marL="1714372" indent="0">
              <a:buNone/>
              <a:defRPr sz="675"/>
            </a:lvl6pPr>
            <a:lvl7pPr marL="2057246" indent="0">
              <a:buNone/>
              <a:defRPr sz="675"/>
            </a:lvl7pPr>
            <a:lvl8pPr marL="2400120" indent="0">
              <a:buNone/>
              <a:defRPr sz="675"/>
            </a:lvl8pPr>
            <a:lvl9pPr marL="2742994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8" y="6459791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240CDC23-E565-C848-9AF6-12BD09C53D9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91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6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16200000">
            <a:off x="-3358142" y="3298184"/>
            <a:ext cx="6858003" cy="261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 rot="16200000" flipV="1">
            <a:off x="-3256806" y="3413513"/>
            <a:ext cx="6858003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5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7" y="6459791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0CDC23-E565-C848-9AF6-12BD09C53D9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7" y="6459791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5" y="6459791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7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</p:sldLayoutIdLst>
  <p:txStyles>
    <p:titleStyle>
      <a:lvl1pPr algn="l" defTabSz="685750" rtl="0" eaLnBrk="1" latinLnBrk="0" hangingPunct="1">
        <a:lnSpc>
          <a:spcPct val="85000"/>
        </a:lnSpc>
        <a:spcBef>
          <a:spcPct val="0"/>
        </a:spcBef>
        <a:buNone/>
        <a:defRPr sz="3600" kern="1200" spc="-37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76" indent="-68576" algn="l" defTabSz="685750" rtl="0" eaLnBrk="1" latinLnBrk="0" hangingPunct="1">
        <a:lnSpc>
          <a:spcPct val="90000"/>
        </a:lnSpc>
        <a:spcBef>
          <a:spcPts val="900"/>
        </a:spcBef>
        <a:spcAft>
          <a:spcPts val="151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15" indent="-137150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65" indent="-137150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15" indent="-137150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464" indent="-137150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938" indent="-171438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928" indent="-171438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4916" indent="-171438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4905" indent="-171438" algn="l" defTabSz="685750" rtl="0" eaLnBrk="1" latinLnBrk="0" hangingPunct="1">
        <a:lnSpc>
          <a:spcPct val="90000"/>
        </a:lnSpc>
        <a:spcBef>
          <a:spcPts val="151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50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2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4" algn="l" defTabSz="68575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Franklin Gothic Book" charset="0"/>
                <a:cs typeface="Franklin Gothic Book" charset="0"/>
              </a:rPr>
              <a:t>Transformers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4724400" y="2362200"/>
            <a:ext cx="6679191" cy="205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>
                <a:solidFill>
                  <a:srgbClr val="A4001D"/>
                </a:solidFill>
                <a:ea typeface="ＭＳ Ｐゴシック" charset="0"/>
                <a:cs typeface="Calibri"/>
              </a:rPr>
              <a:t>Introduction </a:t>
            </a:r>
            <a:r>
              <a:rPr lang="en-US" sz="4000">
                <a:solidFill>
                  <a:srgbClr val="A4001D"/>
                </a:solidFill>
                <a:ea typeface="ＭＳ Ｐゴシック" charset="0"/>
                <a:cs typeface="Calibri"/>
              </a:rPr>
              <a:t>to </a:t>
            </a:r>
            <a:r>
              <a:rPr lang="en-US" sz="4000" smtClean="0">
                <a:solidFill>
                  <a:srgbClr val="A4001D"/>
                </a:solidFill>
                <a:ea typeface="ＭＳ Ｐゴシック" charset="0"/>
                <a:cs typeface="Calibri"/>
              </a:rPr>
              <a:t>Transformers</a:t>
            </a:r>
          </a:p>
          <a:p>
            <a:pPr>
              <a:buNone/>
            </a:pPr>
            <a:r>
              <a:rPr lang="en-US" sz="4000" smtClean="0">
                <a:solidFill>
                  <a:srgbClr val="A4001D"/>
                </a:solidFill>
                <a:ea typeface="ＭＳ Ｐゴシック" charset="0"/>
                <a:cs typeface="Calibri"/>
              </a:rPr>
              <a:t>                      by</a:t>
            </a:r>
          </a:p>
          <a:p>
            <a:pPr>
              <a:buNone/>
            </a:pPr>
            <a:r>
              <a:rPr lang="en-US" sz="4000" smtClean="0">
                <a:solidFill>
                  <a:srgbClr val="A4001D"/>
                </a:solidFill>
                <a:ea typeface="ＭＳ Ｐゴシック" charset="0"/>
                <a:cs typeface="Calibri"/>
              </a:rPr>
              <a:t>Dr. Chandra Sekhar Vorugunti</a:t>
            </a:r>
            <a:endParaRPr lang="en-US" sz="4000" dirty="0">
              <a:solidFill>
                <a:srgbClr val="A4001D"/>
              </a:solidFill>
              <a:ea typeface="ＭＳ Ｐゴシック" charset="0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D0C09-EFC7-684F-8EDB-3D513508F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4490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4603"/>
            <a:ext cx="10058400" cy="907196"/>
          </a:xfrm>
        </p:spPr>
        <p:txBody>
          <a:bodyPr>
            <a:normAutofit/>
          </a:bodyPr>
          <a:lstStyle/>
          <a:p>
            <a:r>
              <a:rPr lang="en-US" dirty="0"/>
              <a:t>LLMs are built out of transformers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676400" y="1447800"/>
            <a:ext cx="10058400" cy="4800600"/>
          </a:xfrm>
        </p:spPr>
        <p:txBody>
          <a:bodyPr>
            <a:normAutofit/>
          </a:bodyPr>
          <a:lstStyle/>
          <a:p>
            <a:pPr marL="0" indent="0"/>
            <a:r>
              <a:rPr lang="en-US" sz="3200" dirty="0"/>
              <a:t>Transformer: a specific kind of network architecture, like a fancier feedforward network, but based on attention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A119C2-582F-4D99-92AF-E6E7C5196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325" y="2565303"/>
            <a:ext cx="6737350" cy="391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05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609600"/>
            <a:ext cx="896302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7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81000"/>
            <a:ext cx="960120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1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90600"/>
            <a:ext cx="90678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9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905000"/>
            <a:ext cx="752475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61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609600"/>
            <a:ext cx="915352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6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533400"/>
            <a:ext cx="6629400" cy="1781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895600"/>
            <a:ext cx="42291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417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914400"/>
            <a:ext cx="764857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49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7200"/>
            <a:ext cx="907732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04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8600"/>
            <a:ext cx="6496050" cy="1047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524000"/>
            <a:ext cx="5314950" cy="3133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38968"/>
            <a:ext cx="5791200" cy="2228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937" y="5181600"/>
            <a:ext cx="368617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45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38212"/>
            <a:ext cx="9077325" cy="50482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286000"/>
            <a:ext cx="455295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040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87" y="4419600"/>
            <a:ext cx="7448550" cy="22764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"/>
            <a:ext cx="900112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3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62000"/>
            <a:ext cx="90201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32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29" y="4114800"/>
            <a:ext cx="6553200" cy="2533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0"/>
            <a:ext cx="90201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76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"/>
            <a:ext cx="8982075" cy="36575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038600"/>
            <a:ext cx="7372350" cy="24479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692979"/>
            <a:ext cx="611505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89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52400"/>
            <a:ext cx="1158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/>
              <a:t>How can the decoder know which part of the input sequence is most relevant when generating a particular output?</a:t>
            </a:r>
            <a:endParaRPr lang="en-IN" sz="24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9086850" cy="4476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614" y="4114800"/>
            <a:ext cx="65532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79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28600"/>
            <a:ext cx="3829050" cy="1352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752600"/>
            <a:ext cx="7305675" cy="1552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476625"/>
            <a:ext cx="444817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38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04800"/>
            <a:ext cx="58293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063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2100262"/>
            <a:ext cx="7419975" cy="3657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4800"/>
            <a:ext cx="29337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35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33400"/>
            <a:ext cx="91440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0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4762500" cy="1685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057400"/>
            <a:ext cx="4038600" cy="1352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781425"/>
            <a:ext cx="3933825" cy="2543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23812"/>
            <a:ext cx="4838700" cy="3324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4191000"/>
            <a:ext cx="725805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65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52400"/>
            <a:ext cx="50101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396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33400"/>
            <a:ext cx="72390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26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85800"/>
            <a:ext cx="90963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02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04800"/>
            <a:ext cx="91154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11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685800"/>
            <a:ext cx="91059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40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1057275"/>
            <a:ext cx="91249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4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067800" cy="50196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362200"/>
            <a:ext cx="22288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337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382" y="685800"/>
            <a:ext cx="4448175" cy="35623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"/>
            <a:ext cx="7772400" cy="439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10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5602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300467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34123</TotalTime>
  <Words>59</Words>
  <Application>Microsoft Office PowerPoint</Application>
  <PresentationFormat>Widescreen</PresentationFormat>
  <Paragraphs>10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ＭＳ Ｐゴシック</vt:lpstr>
      <vt:lpstr>Arial</vt:lpstr>
      <vt:lpstr>Calibri</vt:lpstr>
      <vt:lpstr>Calibri Light</vt:lpstr>
      <vt:lpstr>Franklin Gothic Book</vt:lpstr>
      <vt:lpstr>Lucida Sans</vt:lpstr>
      <vt:lpstr>Times New Roman</vt:lpstr>
      <vt:lpstr>1_Retrospect</vt:lpstr>
      <vt:lpstr>Transformers</vt:lpstr>
      <vt:lpstr>LLMs are built out of transformers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Transformers</dc:title>
  <dc:subject>Speech and Language Processing</dc:subject>
  <dc:creator>Dan Jurafsky</dc:creator>
  <cp:keywords/>
  <dc:description/>
  <cp:lastModifiedBy>pc</cp:lastModifiedBy>
  <cp:revision>606</cp:revision>
  <cp:lastPrinted>2024-08-20T14:10:44Z</cp:lastPrinted>
  <dcterms:created xsi:type="dcterms:W3CDTF">2009-02-11T19:56:22Z</dcterms:created>
  <dcterms:modified xsi:type="dcterms:W3CDTF">2025-05-29T08:04:40Z</dcterms:modified>
  <cp:category/>
</cp:coreProperties>
</file>