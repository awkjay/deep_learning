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800787-3744-4D2C-8453-0291C5D91F17}">
  <a:tblStyle styleId="{D3800787-3744-4D2C-8453-0291C5D91F1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e2fd9ab5f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e2fd9ab5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5e2fd9ab5f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5e2fd9ab5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eb43d997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eb43d997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ed463003b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ed463003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ed463003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ed463003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ed463003b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ed463003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ed463003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5ed463003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ed463003b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ed463003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ed463003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ed463003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ed463003b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ed463003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e119825f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e119825f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e119825f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5e119825f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e119825f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5e119825f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e2fd9ab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5e2fd9ab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e119825f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5e119825f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5e2fd9ab5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5e2fd9ab5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ed463003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5ed463003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ef172dd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ef172dd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5e2fd9ab5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5e2fd9ab5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e2fd9ab5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5e2fd9ab5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5ef172dda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5ef172dda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5ef172dda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5ef172dda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ef172dda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5ef172dda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5ed463003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5ed463003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5ef172dda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5ef172dda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ef172dda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5ef172dda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5ef172dda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5ef172dda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5ef172ddaf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5ef172dda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5ef172dda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5ef172dda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5ed463003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5ed463003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5ef172ddaf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5ef172ddaf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5ef172ddaf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5ef172dda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5ef172ddaf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5ef172ddaf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5ef172ddaf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5ef172ddaf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5e2fd9ab5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5e2fd9ab5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5e2fd9ab5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5e2fd9ab5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e2fd9ab5f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5e2fd9ab5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5e2fd9ab5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5e2fd9ab5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ed46300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5ed46300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5eb43d997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5eb43d997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5eb43d997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5eb43d997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5eb43d9972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5eb43d997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5eb43d9972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5eb43d997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5eb43d997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5eb43d997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5eb43d997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5eb43d997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5eb43d9972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5eb43d9972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5eb43d9972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5eb43d997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5eb43d997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5eb43d997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5eb43d9972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5eb43d9972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5eb43d9972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5eb43d9972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5ed463003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5ed463003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5ed463003b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5ed463003b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5ed463003b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5ed463003b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5ed463003b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5ed463003b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5ed463003b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5ed463003b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5ef172dda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5ef172dda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5ef172ddaf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5ef172ddaf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5ef172ddaf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5ef172ddaf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5ef172ddaf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5ef172ddaf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5ef172ddaf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5ef172ddaf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5ef172ddaf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5ef172ddaf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talk about what will happen if given multiple tools</a:t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5ef172ddaf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5ef172ddaf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5ef172ddaf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5ef172ddaf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5f30a5550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5f30a5550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5f30a5550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5f30a5550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5f30a5550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5f30a5550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5f30a5550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5f30a5550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5f30a5550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5f30a5550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5f30a5550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5f30a5550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5f30a5550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5f30a5550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5e2fd9ab5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5e2fd9ab5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talk about what will happen if given multiple tools</a:t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5f30a555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5f30a555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talk about what will happen if given multiple tools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9.png"/><Relationship Id="rId8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4.png"/><Relationship Id="rId8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 Language Models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0951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Rushendra Sidibomma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About me…</a:t>
            </a:r>
            <a:endParaRPr sz="3000"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625" y="1461975"/>
            <a:ext cx="2547249" cy="254724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3019500" y="1461950"/>
            <a:ext cx="58128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Bachelors in CS with Honors from IIIT Sri City (‘24)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Undergraduate Researcher under Dr. RK Sanodiya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Recipient of $9,000 research fellowship (@ TMU)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Member @ Trustworthy AI Lab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ML Research Engineer @ AutomationEdge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Research Interests: Trustworthy ML, Vision, LLMs (reasoning, weakly-supervised tasks, low-resource tasks)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227850" y="4142700"/>
            <a:ext cx="249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https://rushendra10.github.io/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About this presentation…</a:t>
            </a:r>
            <a:endParaRPr sz="3000"/>
          </a:p>
        </p:txBody>
      </p:sp>
      <p:sp>
        <p:nvSpPr>
          <p:cNvPr id="69" name="Google Shape;69;p15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Interactive - </a:t>
            </a:r>
            <a:r>
              <a:rPr lang="en" sz="1800">
                <a:solidFill>
                  <a:schemeClr val="dk1"/>
                </a:solidFill>
              </a:rPr>
              <a:t>Please</a:t>
            </a:r>
            <a:r>
              <a:rPr lang="en" sz="1800">
                <a:solidFill>
                  <a:schemeClr val="dk1"/>
                </a:solidFill>
              </a:rPr>
              <a:t> me super active in the chat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Ask questions at any point of time - chat window on screen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We can have quick tangent discussions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Reasonable sidebars are okay - longer discussions can be pushed to the end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If some question is too long to put down in chat, I can unmute you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ctrTitle"/>
          </p:nvPr>
        </p:nvSpPr>
        <p:spPr>
          <a:xfrm>
            <a:off x="311700" y="2212050"/>
            <a:ext cx="8520600" cy="7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Introduction to LLMs</a:t>
            </a:r>
            <a:endParaRPr sz="3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What are LLMs?</a:t>
            </a:r>
            <a:endParaRPr sz="3000"/>
          </a:p>
        </p:txBody>
      </p:sp>
      <p:sp>
        <p:nvSpPr>
          <p:cNvPr id="80" name="Google Shape;80;p17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Large Language Models are simply models that calculate the probability of a word being the next token in a sequence(sentence).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Built using deep learning architectures, especially Transformers (e.g., GPT, BERT).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LLMs are not just basic pattern matchers; they generalize from context.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Example</a:t>
            </a:r>
            <a:r>
              <a:rPr lang="en" sz="1800">
                <a:solidFill>
                  <a:schemeClr val="dk1"/>
                </a:solidFill>
              </a:rPr>
              <a:t>: GPT-4 can write essays, summarize legal documents, and answer programming questions.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Why Learn About LLMs Now?</a:t>
            </a:r>
            <a:endParaRPr sz="3000"/>
          </a:p>
        </p:txBody>
      </p:sp>
      <p:sp>
        <p:nvSpPr>
          <p:cNvPr id="86" name="Google Shape;86;p18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LLMs are central to the current wave of AI innovation. Everyone knows AI is being adopted everywhere right?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Essential for staying competitive in tech and knowledge-driven industries.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Helps build AI literacy—crucial in the age of generative AI.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Just as computers were once optional but are now essential, knowing how LLMs work is becoming foundational.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Current Trends in LLM Development</a:t>
            </a:r>
            <a:endParaRPr sz="3000"/>
          </a:p>
        </p:txBody>
      </p:sp>
      <p:sp>
        <p:nvSpPr>
          <p:cNvPr id="92" name="Google Shape;92;p19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Emergence of multimodal models (text + images/audio/video, e.g., GPT-4o).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Open-source LLMs gaining traction (e.g., Mistral, LLaMA).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Shift toward smaller, more efficient models (e.g., quantization, fine-tuning).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Focus on safety, alignment, and explainability in LLM outputs.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Integration into enterprise workflows and productivity tools.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Highlight ChatGPT plugins, Microsoft Copilot, Google Gemini, and their widespread adoption.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Fine-tuning and retrieval-augmented generation (RAG) as growing techniques.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Applications of LLMs in Daily Life</a:t>
            </a:r>
            <a:endParaRPr sz="3000"/>
          </a:p>
        </p:txBody>
      </p:sp>
      <p:sp>
        <p:nvSpPr>
          <p:cNvPr id="98" name="Google Shape;98;p20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224" y="1724691"/>
            <a:ext cx="1487314" cy="1023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0722" y="3247438"/>
            <a:ext cx="1347400" cy="93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3200" y="1815425"/>
            <a:ext cx="474075" cy="540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83925" y="3346562"/>
            <a:ext cx="1956575" cy="124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92496" y="3157625"/>
            <a:ext cx="1836400" cy="162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58044" y="1227994"/>
            <a:ext cx="3718224" cy="15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/>
              <a:t>Applications of LLMs in different industries</a:t>
            </a:r>
            <a:endParaRPr sz="3000"/>
          </a:p>
        </p:txBody>
      </p:sp>
      <p:sp>
        <p:nvSpPr>
          <p:cNvPr id="110" name="Google Shape;110;p21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835" y="1084950"/>
            <a:ext cx="2495915" cy="135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0076" y="2875125"/>
            <a:ext cx="1924201" cy="1932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3850" y="1084950"/>
            <a:ext cx="1924200" cy="1475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06019" y="2913065"/>
            <a:ext cx="1492225" cy="1856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20722" y="1182965"/>
            <a:ext cx="2302550" cy="1279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89225" y="2560175"/>
            <a:ext cx="3084975" cy="2462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ctrTitle"/>
          </p:nvPr>
        </p:nvSpPr>
        <p:spPr>
          <a:xfrm>
            <a:off x="311700" y="2212050"/>
            <a:ext cx="8520600" cy="7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Transformers</a:t>
            </a:r>
            <a:endParaRPr sz="3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 &amp; </a:t>
            </a:r>
            <a:endParaRPr sz="3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Transformer architecture</a:t>
            </a:r>
            <a:endParaRPr sz="3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ctrTitle"/>
          </p:nvPr>
        </p:nvSpPr>
        <p:spPr>
          <a:xfrm>
            <a:off x="459525" y="612025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Introduction to Sequence Models: From RNNs to Transformers</a:t>
            </a:r>
            <a:endParaRPr sz="3000"/>
          </a:p>
        </p:txBody>
      </p:sp>
      <p:sp>
        <p:nvSpPr>
          <p:cNvPr id="127" name="Google Shape;127;p23"/>
          <p:cNvSpPr txBox="1"/>
          <p:nvPr/>
        </p:nvSpPr>
        <p:spPr>
          <a:xfrm>
            <a:off x="696350" y="15213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Traditional models: RNNs and LSTMs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Both process sequences step-by-step.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Effective for short-term dependencies, but struggle with long-range context.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Transformers revolutionized NLP by replacing recurrence with attention.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“Attention Is All You Need” (Vaswani et al., 2017)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ctrTitle"/>
          </p:nvPr>
        </p:nvSpPr>
        <p:spPr>
          <a:xfrm>
            <a:off x="311700" y="375450"/>
            <a:ext cx="399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RNNs</a:t>
            </a:r>
            <a:endParaRPr sz="3000"/>
          </a:p>
        </p:txBody>
      </p:sp>
      <p:sp>
        <p:nvSpPr>
          <p:cNvPr id="133" name="Google Shape;133;p24"/>
          <p:cNvSpPr txBox="1"/>
          <p:nvPr/>
        </p:nvSpPr>
        <p:spPr>
          <a:xfrm>
            <a:off x="459525" y="1321525"/>
            <a:ext cx="38427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34" name="Google Shape;134;p24"/>
          <p:cNvSpPr txBox="1"/>
          <p:nvPr>
            <p:ph type="ctrTitle"/>
          </p:nvPr>
        </p:nvSpPr>
        <p:spPr>
          <a:xfrm>
            <a:off x="4608500" y="527850"/>
            <a:ext cx="399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LSTMs</a:t>
            </a:r>
            <a:endParaRPr sz="3000"/>
          </a:p>
        </p:txBody>
      </p:sp>
      <p:sp>
        <p:nvSpPr>
          <p:cNvPr id="135" name="Google Shape;135;p24"/>
          <p:cNvSpPr txBox="1"/>
          <p:nvPr/>
        </p:nvSpPr>
        <p:spPr>
          <a:xfrm>
            <a:off x="4682450" y="1321525"/>
            <a:ext cx="38427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36" name="Google Shape;1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605" y="1477807"/>
            <a:ext cx="3630775" cy="1496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400" y="3074053"/>
            <a:ext cx="3665174" cy="1348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7700" y="1766300"/>
            <a:ext cx="4312199" cy="218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Limitations of RNNs and LSTMs</a:t>
            </a:r>
            <a:endParaRPr sz="3000"/>
          </a:p>
        </p:txBody>
      </p:sp>
      <p:sp>
        <p:nvSpPr>
          <p:cNvPr id="144" name="Google Shape;144;p25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Sequential bottleneck: Cannot parallelize well during training.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Vanishing gradients: Long sequences lead to information decay.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Hard to capture long-term dependencies even with LSTM's memory gates.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Slow and inefficient for large datasets or real-time applications.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Example: while translating a long sentence, RNNs may forget the subject by the time they reach the verb.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Even bidirectional LSTMs only partially solve this issue and still have computation limitations.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Transformer Architecture – A Paradigm Shift</a:t>
            </a:r>
            <a:endParaRPr sz="3000"/>
          </a:p>
        </p:txBody>
      </p:sp>
      <p:sp>
        <p:nvSpPr>
          <p:cNvPr id="150" name="Google Shape;150;p26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Transformers attend to every word in the sentence in parallel using self-attention.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Key components: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Self-attention mechanism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Multi-head attention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Positional encoding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Feed-forward networks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The model can “weigh” the importance of each word globally in context.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4688" y="152400"/>
            <a:ext cx="349461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Global Attention – The Heart of the Transformer</a:t>
            </a:r>
            <a:endParaRPr sz="3000"/>
          </a:p>
        </p:txBody>
      </p:sp>
      <p:sp>
        <p:nvSpPr>
          <p:cNvPr id="161" name="Google Shape;161;p28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Each word attends to all other words in the input through attention scores.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Captures long-range dependencies instantly.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Attention = Query × Key → Softmax → weighted sum of Values.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Enables better representation of context, grammar, and meaning.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Example:</a:t>
            </a:r>
            <a:r>
              <a:rPr lang="en" sz="1700">
                <a:solidFill>
                  <a:schemeClr val="dk1"/>
                </a:solidFill>
              </a:rPr>
              <a:t> In “The cat that sat on the mat was black,” the word "was" attends to "cat" (not just "mat").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Attention lets the model </a:t>
            </a:r>
            <a:r>
              <a:rPr lang="en" sz="1700">
                <a:solidFill>
                  <a:schemeClr val="dk1"/>
                </a:solidFill>
              </a:rPr>
              <a:t>dynamically </a:t>
            </a:r>
            <a:r>
              <a:rPr lang="en" sz="1700">
                <a:solidFill>
                  <a:schemeClr val="dk1"/>
                </a:solidFill>
              </a:rPr>
              <a:t>decide which words are relevant.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 must read…</a:t>
            </a:r>
            <a:endParaRPr sz="3000"/>
          </a:p>
        </p:txBody>
      </p:sp>
      <p:sp>
        <p:nvSpPr>
          <p:cNvPr id="167" name="Google Shape;167;p29"/>
          <p:cNvSpPr txBox="1"/>
          <p:nvPr/>
        </p:nvSpPr>
        <p:spPr>
          <a:xfrm>
            <a:off x="467725" y="13461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68" name="Google Shape;168;p29"/>
          <p:cNvSpPr txBox="1"/>
          <p:nvPr/>
        </p:nvSpPr>
        <p:spPr>
          <a:xfrm>
            <a:off x="2077800" y="2169625"/>
            <a:ext cx="4988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Vaswani, A., Shazeer, N., Parmar, N., Uszkoreit, J., Jones, L., Gomez, A.N., Kaiser, Ł. and Polosukhin, I., 2017. Attention is all you need. </a:t>
            </a:r>
            <a:r>
              <a:rPr i="1" lang="en" sz="1000">
                <a:solidFill>
                  <a:srgbClr val="222222"/>
                </a:solidFill>
                <a:highlight>
                  <a:srgbClr val="FFFFFF"/>
                </a:highlight>
              </a:rPr>
              <a:t>Advances in neural information processing systems</a:t>
            </a: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, </a:t>
            </a:r>
            <a:r>
              <a:rPr i="1" lang="en" sz="1000">
                <a:solidFill>
                  <a:srgbClr val="222222"/>
                </a:solidFill>
                <a:highlight>
                  <a:srgbClr val="FFFFFF"/>
                </a:highlight>
              </a:rPr>
              <a:t>30</a:t>
            </a: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.</a:t>
            </a:r>
            <a:endParaRPr/>
          </a:p>
        </p:txBody>
      </p:sp>
      <p:sp>
        <p:nvSpPr>
          <p:cNvPr id="169" name="Google Shape;169;p29"/>
          <p:cNvSpPr txBox="1"/>
          <p:nvPr/>
        </p:nvSpPr>
        <p:spPr>
          <a:xfrm>
            <a:off x="1085550" y="3088700"/>
            <a:ext cx="697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https://proceedings.neurips.cc/paper/2017/file/3f5ee243547dee91fbd053c1c4a845aa-Paper.pdf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type="ctrTitle"/>
          </p:nvPr>
        </p:nvSpPr>
        <p:spPr>
          <a:xfrm>
            <a:off x="311700" y="2212050"/>
            <a:ext cx="8520600" cy="7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Parameters</a:t>
            </a:r>
            <a:endParaRPr sz="3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What Are Parameters in Language Models?</a:t>
            </a:r>
            <a:endParaRPr sz="3000"/>
          </a:p>
        </p:txBody>
      </p:sp>
      <p:sp>
        <p:nvSpPr>
          <p:cNvPr id="180" name="Google Shape;180;p31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Parameters are the weights/unknowns learned during training.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They encode the model’s knowledge and determine how it predicts the next word/token.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More parameters → greater capacity to capture language patterns, but this is not always better.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Examples: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GPT-2: ~1.5B parameters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GPT-3: 175B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More parameters mean more model complexity but also higher computational cost.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How much memory does an LLM take up?</a:t>
            </a:r>
            <a:endParaRPr sz="3000"/>
          </a:p>
        </p:txBody>
      </p:sp>
      <p:sp>
        <p:nvSpPr>
          <p:cNvPr id="186" name="Google Shape;186;p32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Let’s say your model has 20 billion parameters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How much memory will it need?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Do you need all that memory in RAM?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Is the required memory just the sum of all the space taken by the parameters?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How much memory does an LLM take up?</a:t>
            </a:r>
            <a:endParaRPr sz="3000"/>
          </a:p>
        </p:txBody>
      </p:sp>
      <p:sp>
        <p:nvSpPr>
          <p:cNvPr id="192" name="Google Shape;192;p33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For a 20B model,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Size of each parameter: 4 bytes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Size of model in bytes: 20,000,000,000 * 4 = 80,000,000,000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≈80GB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What about the memory taken up by params like K, V?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Common convention to approximate required </a:t>
            </a:r>
            <a:r>
              <a:rPr lang="en" sz="1800">
                <a:solidFill>
                  <a:schemeClr val="dk1"/>
                </a:solidFill>
              </a:rPr>
              <a:t>memory</a:t>
            </a:r>
            <a:r>
              <a:rPr lang="en" sz="1800">
                <a:solidFill>
                  <a:schemeClr val="dk1"/>
                </a:solidFill>
              </a:rPr>
              <a:t> as 1.2*(size of params)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Our 20B mode will need 1.2*80GB </a:t>
            </a:r>
            <a:r>
              <a:rPr lang="en" sz="1800">
                <a:solidFill>
                  <a:schemeClr val="dk1"/>
                </a:solidFill>
              </a:rPr>
              <a:t>≈ 96GB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No, we don’t need it all in the RAM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Painfully slow if not in RAM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Context Window</a:t>
            </a:r>
            <a:endParaRPr sz="3000"/>
          </a:p>
        </p:txBody>
      </p:sp>
      <p:sp>
        <p:nvSpPr>
          <p:cNvPr id="198" name="Google Shape;198;p34"/>
          <p:cNvSpPr txBox="1"/>
          <p:nvPr/>
        </p:nvSpPr>
        <p:spPr>
          <a:xfrm>
            <a:off x="474325" y="11439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The context window defines how much text the model can consider at once (measured in tokens).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 model with a small context window will forget the beginning of a long document.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Common sizes: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GPT-3: 2048 tokens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GPT-4: up to 128k tokens (depending on version)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Important for tasks like summarization, reasoning, code understanding, etc.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Newer models like GPT-4o and Claude 3 Opus can handle entire books or multi-turn conversations.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Temperature</a:t>
            </a:r>
            <a:endParaRPr sz="3000"/>
          </a:p>
        </p:txBody>
      </p:sp>
      <p:sp>
        <p:nvSpPr>
          <p:cNvPr id="204" name="Google Shape;204;p35"/>
          <p:cNvSpPr txBox="1"/>
          <p:nvPr/>
        </p:nvSpPr>
        <p:spPr>
          <a:xfrm>
            <a:off x="556100" y="1242050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Temperature controls the randomness of the model’s output.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Scale: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Low (e.g., 0.1): More deterministic, safer, factual.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High (e.g., 1.0 or more): More creative, diverse, but possibly inconsistent.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Formula-wise: It modifies the softmax function to make probabilities sharper (low T) or flatter (high T).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For coding, summarization → use low T; for poetry, story writing → use high T.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6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Top_p (Nucleus Sampling)</a:t>
            </a:r>
            <a:endParaRPr sz="3000"/>
          </a:p>
        </p:txBody>
      </p:sp>
      <p:sp>
        <p:nvSpPr>
          <p:cNvPr id="210" name="Google Shape;210;p36"/>
          <p:cNvSpPr txBox="1"/>
          <p:nvPr/>
        </p:nvSpPr>
        <p:spPr>
          <a:xfrm>
            <a:off x="474325" y="11439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Top_p controls how many probable words the model can choose from.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Instead of picking from the top ‘k’ fixed words, it selects from a dynamic set of words whose cumulative probability ≤ p.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Example: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top_p = 0.9 → pick from the smallest set of words whose total probability is ≥90%.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Helps balance creativity and coherence.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Top-p is an alternative to temperature or can be used with it.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Higher top_p gives more diversity but can risk hallucination; lower top_p is more conservative.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 txBox="1"/>
          <p:nvPr>
            <p:ph type="ctrTitle"/>
          </p:nvPr>
        </p:nvSpPr>
        <p:spPr>
          <a:xfrm>
            <a:off x="311700" y="2212050"/>
            <a:ext cx="8520600" cy="7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Quantization</a:t>
            </a:r>
            <a:endParaRPr sz="35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8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What is Quantization?</a:t>
            </a:r>
            <a:endParaRPr sz="3000"/>
          </a:p>
        </p:txBody>
      </p:sp>
      <p:sp>
        <p:nvSpPr>
          <p:cNvPr id="221" name="Google Shape;221;p38"/>
          <p:cNvSpPr txBox="1"/>
          <p:nvPr/>
        </p:nvSpPr>
        <p:spPr>
          <a:xfrm>
            <a:off x="452125" y="11217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Quantization reduces the precision of numbers used in model computations (e.g., from 32-bit floats to 8-bit integers).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Used to compress models and reduce memory/computational cost.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Two main types: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Post-training quantization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Quantization-aware training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Popular in deploying ML models to edge devices, mobile, or cloud environments.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Think of it like using rough estimates instead of exact numbers to speed things up.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9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 Performance Benefits of Quantization</a:t>
            </a:r>
            <a:endParaRPr sz="3000"/>
          </a:p>
        </p:txBody>
      </p:sp>
      <p:sp>
        <p:nvSpPr>
          <p:cNvPr id="227" name="Google Shape;227;p39"/>
          <p:cNvSpPr txBox="1"/>
          <p:nvPr/>
        </p:nvSpPr>
        <p:spPr>
          <a:xfrm>
            <a:off x="459525" y="1158700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Smaller model size: Up to 4x reduction when converting from FP32 to INT8.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Faster inference: Integer operations are faster and more hardware-efficient.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Lower memory usage: Less RAM and bandwidth needed to load or run models.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Energy efficiency: Critical for mobile/IoT and data center inference at scale.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This is why quantized models are widely used in mobile apps like Google Translate, on-device assistants, etc.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Quantization is essential for real-time applications like speech and image recognition on edge devices.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0"/>
          <p:cNvSpPr txBox="1"/>
          <p:nvPr>
            <p:ph type="ctrTitle"/>
          </p:nvPr>
        </p:nvSpPr>
        <p:spPr>
          <a:xfrm>
            <a:off x="402100" y="286175"/>
            <a:ext cx="8415300" cy="59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Efficiency Gains in Real-World Deployments</a:t>
            </a:r>
            <a:endParaRPr sz="3000"/>
          </a:p>
        </p:txBody>
      </p:sp>
      <p:sp>
        <p:nvSpPr>
          <p:cNvPr id="233" name="Google Shape;233;p40"/>
          <p:cNvSpPr txBox="1"/>
          <p:nvPr/>
        </p:nvSpPr>
        <p:spPr>
          <a:xfrm>
            <a:off x="540925" y="940650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Enables ML models to run on resource-constrained hardware (microcontrollers, phones, FPGAs).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Supported by modern hardware: NVIDIA TensorRT, Qualcomm AI Engine, Apple Neural Engine, etc.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Reduces inference time, especially when batch sizes are small.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Examples: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BERT quantized → 2-3x faster with minimal accuracy loss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LLMs like LLaMA or GPT models often quantized for local deployment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Quantization makes large models accessible in low-resource settings.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Tools like ONNX, Hugging Face Transformers, and TensorFlow Lite offer quantization options.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1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Drawbacks and Challenges of Quantization</a:t>
            </a:r>
            <a:endParaRPr sz="3000"/>
          </a:p>
        </p:txBody>
      </p:sp>
      <p:sp>
        <p:nvSpPr>
          <p:cNvPr id="239" name="Google Shape;239;p41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Accuracy loss: Some models degrade in performance, especially in sensitive tasks (e.g., medical, finance).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Difficult to quantize all layers: Some layers (like softmax) are harder to quantize effectively.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Limited support for quantization-aware training in some frameworks.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Hardware compatibility: Not all CPUs/GPUs accelerate INT8 or lower precision natively.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2"/>
          <p:cNvSpPr txBox="1"/>
          <p:nvPr/>
        </p:nvSpPr>
        <p:spPr>
          <a:xfrm>
            <a:off x="475125" y="132937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Quantization isn’t plug-and-play in every case—trial and error or re-training may be needed. Models trained on narrow distributions or with sharp decision boundaries may suffer more accuracy loss.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When to use?</a:t>
            </a:r>
            <a:r>
              <a:rPr lang="en" sz="1700">
                <a:solidFill>
                  <a:schemeClr val="dk1"/>
                </a:solidFill>
              </a:rPr>
              <a:t> Deploying on mobile/edge, speeding up inference, reducing model size.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Great for</a:t>
            </a:r>
            <a:r>
              <a:rPr lang="en" sz="1700">
                <a:solidFill>
                  <a:schemeClr val="dk1"/>
                </a:solidFill>
              </a:rPr>
              <a:t>: speech recognition, image classification, NLP inference at scale.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Trade-off</a:t>
            </a:r>
            <a:r>
              <a:rPr lang="en" sz="1700">
                <a:solidFill>
                  <a:schemeClr val="dk1"/>
                </a:solidFill>
              </a:rPr>
              <a:t>: speed and memory savings vs. slight potential drop in accuracy.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Future trend</a:t>
            </a:r>
            <a:r>
              <a:rPr lang="en" sz="1700">
                <a:solidFill>
                  <a:schemeClr val="dk1"/>
                </a:solidFill>
              </a:rPr>
              <a:t>: mixed-precision inference (e.g., FP16 + INT8) for better balance.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45" name="Google Shape;245;p42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Caution!</a:t>
            </a:r>
            <a:endParaRPr sz="3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3"/>
          <p:cNvSpPr txBox="1"/>
          <p:nvPr>
            <p:ph type="ctrTitle"/>
          </p:nvPr>
        </p:nvSpPr>
        <p:spPr>
          <a:xfrm>
            <a:off x="311700" y="2212050"/>
            <a:ext cx="8520600" cy="7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Training</a:t>
            </a:r>
            <a:endParaRPr sz="35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4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How are LLMs Trained?</a:t>
            </a:r>
            <a:endParaRPr sz="3000"/>
          </a:p>
        </p:txBody>
      </p:sp>
      <p:sp>
        <p:nvSpPr>
          <p:cNvPr id="256" name="Google Shape;256;p44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Language models learn to predict the next token in a sequence (causal or masked).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Training involves self-supervised learning on massive corpora of text.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Core idea: convert large text datasets into input-output pairs without manual labeling.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Process: Tokenization → Forward pass → Loss calculation → Backpropagation → Parameter updates.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LLMs don’t need labeled data—just a lot of raw text (books, websites, code, etc.)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Training sources: Wikipedia, Common Crawl, GitHub, etc...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5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Base Models – Foundation of All Tasks</a:t>
            </a:r>
            <a:endParaRPr sz="3000"/>
          </a:p>
        </p:txBody>
      </p:sp>
      <p:sp>
        <p:nvSpPr>
          <p:cNvPr id="262" name="Google Shape;262;p45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Base models are trained from scratch using general-purpose text.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No task-specific tuning—trained with a single objective, like next-word prediction.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Examples: GPT-3 (base), BERT (base), LLaMA (base).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Act as general-purpose learners: can be adapted later via prompts or fine-tuning.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Think of base models as a "blank canvas" that understands language broadly but doesn’t specialize in any task.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They are the raw form of models before being customized for chatbots, summarizers, translators, etc.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6"/>
          <p:cNvSpPr txBox="1"/>
          <p:nvPr>
            <p:ph type="ctrTitle"/>
          </p:nvPr>
        </p:nvSpPr>
        <p:spPr>
          <a:xfrm>
            <a:off x="311700" y="109025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Fine-Tuned Models – Adapting for Specific Tasks</a:t>
            </a:r>
            <a:endParaRPr sz="3000"/>
          </a:p>
        </p:txBody>
      </p:sp>
      <p:sp>
        <p:nvSpPr>
          <p:cNvPr id="268" name="Google Shape;268;p46"/>
          <p:cNvSpPr txBox="1"/>
          <p:nvPr/>
        </p:nvSpPr>
        <p:spPr>
          <a:xfrm>
            <a:off x="411975" y="818525"/>
            <a:ext cx="83901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Fine-tuning = training a base model further on specific datasets or instructions.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Uses supervised learning or reinforcement learning with human feedback (RLHF).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Examples: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instruct-models= base models fine-tuned to follow instructions.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ChatGPT = base GPT + RLHF + safety tuning.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Fine-tuning teaches the model how to behave for a particular use case (chat, translation, etc.).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Fine-tuning adds task-specific intelligence and often improves alignment with user intent.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RLHF involves humans ranking responses, guiding the model toward preferred behavior.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7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Key Differences – Base vs Fine-Tuned Models</a:t>
            </a:r>
            <a:endParaRPr sz="3000"/>
          </a:p>
        </p:txBody>
      </p:sp>
      <p:pic>
        <p:nvPicPr>
          <p:cNvPr id="274" name="Google Shape;27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813" y="1512125"/>
            <a:ext cx="7452376" cy="241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8"/>
          <p:cNvSpPr txBox="1"/>
          <p:nvPr>
            <p:ph type="ctrTitle"/>
          </p:nvPr>
        </p:nvSpPr>
        <p:spPr>
          <a:xfrm>
            <a:off x="311700" y="109025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An Example…</a:t>
            </a:r>
            <a:endParaRPr sz="3000"/>
          </a:p>
        </p:txBody>
      </p:sp>
      <p:sp>
        <p:nvSpPr>
          <p:cNvPr id="280" name="Google Shape;280;p48"/>
          <p:cNvSpPr txBox="1"/>
          <p:nvPr/>
        </p:nvSpPr>
        <p:spPr>
          <a:xfrm>
            <a:off x="411975" y="818525"/>
            <a:ext cx="83901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Those huge manuals that come when a buy a car or a bike - does anyone ready them?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What if we train an LLM on this manual and let users ask questions?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How to train the model - Corpus vs Q/A?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Advantages of training only on the corpus?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Advantages of training on Q/A?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9"/>
          <p:cNvSpPr txBox="1"/>
          <p:nvPr>
            <p:ph type="ctrTitle"/>
          </p:nvPr>
        </p:nvSpPr>
        <p:spPr>
          <a:xfrm>
            <a:off x="311700" y="2212050"/>
            <a:ext cx="8520600" cy="7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RLHF</a:t>
            </a:r>
            <a:endParaRPr sz="35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0"/>
          <p:cNvSpPr txBox="1"/>
          <p:nvPr>
            <p:ph type="ctrTitle"/>
          </p:nvPr>
        </p:nvSpPr>
        <p:spPr>
          <a:xfrm>
            <a:off x="311700" y="109025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What is RLHF?</a:t>
            </a:r>
            <a:endParaRPr sz="3000"/>
          </a:p>
        </p:txBody>
      </p:sp>
      <p:sp>
        <p:nvSpPr>
          <p:cNvPr id="291" name="Google Shape;291;p50"/>
          <p:cNvSpPr txBox="1"/>
          <p:nvPr/>
        </p:nvSpPr>
        <p:spPr>
          <a:xfrm>
            <a:off x="411975" y="818525"/>
            <a:ext cx="83901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Short for Reinforcement Learning from Human Feedback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 method to fine-tune language models so they: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Follow instructions better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Are safer, less toxic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Align more with human intent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Three Stages of RLHF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Supervised Fine-Tuning (SFT)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Reward Model Training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Reinforcement Learning (PPO)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1"/>
          <p:cNvSpPr txBox="1"/>
          <p:nvPr>
            <p:ph type="ctrTitle"/>
          </p:nvPr>
        </p:nvSpPr>
        <p:spPr>
          <a:xfrm>
            <a:off x="311700" y="109025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Why </a:t>
            </a:r>
            <a:r>
              <a:rPr lang="en" sz="3000"/>
              <a:t>RLHF?</a:t>
            </a:r>
            <a:endParaRPr sz="3000"/>
          </a:p>
        </p:txBody>
      </p:sp>
      <p:sp>
        <p:nvSpPr>
          <p:cNvPr id="297" name="Google Shape;297;p51"/>
          <p:cNvSpPr txBox="1"/>
          <p:nvPr/>
        </p:nvSpPr>
        <p:spPr>
          <a:xfrm>
            <a:off x="411975" y="818525"/>
            <a:ext cx="83901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Solves problems of truthfulness, helpfulness, and harmlessness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Makes models better at following instructions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Helps align models with human values, not just raw likelihood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Associated challenges: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Expensive (requires human labelers)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Reward models can be biased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Can lead to reward hacking if not careful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2"/>
          <p:cNvSpPr txBox="1"/>
          <p:nvPr>
            <p:ph type="ctrTitle"/>
          </p:nvPr>
        </p:nvSpPr>
        <p:spPr>
          <a:xfrm>
            <a:off x="311700" y="2212050"/>
            <a:ext cx="8520600" cy="7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Structured vs Unstructured Tasks</a:t>
            </a:r>
            <a:endParaRPr sz="35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3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What is a task?</a:t>
            </a:r>
            <a:endParaRPr sz="3000"/>
          </a:p>
        </p:txBody>
      </p:sp>
      <p:sp>
        <p:nvSpPr>
          <p:cNvPr id="308" name="Google Shape;308;p53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LLMs are nothing but next-token-predictors!!!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Their task is to generate the next token and then based on the sequence until now, again generate the next token.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 "task" refers to the kind of problem you're asking an LLM to solve — this could be answering a question, summarizing a document, extracting information, etc.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Goal</a:t>
            </a:r>
            <a:r>
              <a:rPr lang="en" sz="1800">
                <a:solidFill>
                  <a:schemeClr val="dk1"/>
                </a:solidFill>
              </a:rPr>
              <a:t>: Explain that tasks can differ based on the </a:t>
            </a:r>
            <a:r>
              <a:rPr b="1" lang="en" sz="1800">
                <a:solidFill>
                  <a:schemeClr val="dk1"/>
                </a:solidFill>
              </a:rPr>
              <a:t>input-output format</a:t>
            </a:r>
            <a:r>
              <a:rPr lang="en" sz="1800">
                <a:solidFill>
                  <a:schemeClr val="dk1"/>
                </a:solidFill>
              </a:rPr>
              <a:t> and the structure of the expected response.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4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What are unstructured tasks?</a:t>
            </a:r>
            <a:endParaRPr sz="3000"/>
          </a:p>
        </p:txBody>
      </p:sp>
      <p:sp>
        <p:nvSpPr>
          <p:cNvPr id="314" name="Google Shape;314;p54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Definition</a:t>
            </a:r>
            <a:r>
              <a:rPr lang="en" sz="1800">
                <a:solidFill>
                  <a:schemeClr val="dk1"/>
                </a:solidFill>
              </a:rPr>
              <a:t>: These are tasks where the output is free-form text, and there’s no strict format.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Examples: 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Answering a question like “What is the capital of France?”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Writing a paragraph summarizing an article.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Generating a poem or story.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LLM Behavior: The model uses its understanding of language to generate coherent, natural text.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Analogy: Like asking a person to explain something in their own words — flexible, creative, varied responses.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Examples</a:t>
            </a:r>
            <a:endParaRPr sz="3000"/>
          </a:p>
        </p:txBody>
      </p:sp>
      <p:sp>
        <p:nvSpPr>
          <p:cNvPr id="320" name="Google Shape;320;p55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Task 1</a:t>
            </a:r>
            <a:r>
              <a:rPr lang="en" sz="1800">
                <a:solidFill>
                  <a:schemeClr val="dk1"/>
                </a:solidFill>
              </a:rPr>
              <a:t>: Given a page from a medical document, extract the patient’s name, date of birth, marital status, race, religion in a JSON format.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Task 2: </a:t>
            </a:r>
            <a:r>
              <a:rPr lang="en" sz="1800">
                <a:solidFill>
                  <a:schemeClr val="dk1"/>
                </a:solidFill>
              </a:rPr>
              <a:t>Generate a limerick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6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Task 1</a:t>
            </a:r>
            <a:endParaRPr sz="3000"/>
          </a:p>
        </p:txBody>
      </p:sp>
      <p:pic>
        <p:nvPicPr>
          <p:cNvPr id="326" name="Google Shape;326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175" y="1231800"/>
            <a:ext cx="3669653" cy="3753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7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Task 2</a:t>
            </a:r>
            <a:endParaRPr sz="3000"/>
          </a:p>
        </p:txBody>
      </p:sp>
      <p:sp>
        <p:nvSpPr>
          <p:cNvPr id="332" name="Google Shape;332;p57"/>
          <p:cNvSpPr txBox="1"/>
          <p:nvPr/>
        </p:nvSpPr>
        <p:spPr>
          <a:xfrm>
            <a:off x="588300" y="1309675"/>
            <a:ext cx="6835500" cy="3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What is a limerick?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Prompt?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8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What are structured tasks?</a:t>
            </a:r>
            <a:endParaRPr sz="3000"/>
          </a:p>
        </p:txBody>
      </p:sp>
      <p:sp>
        <p:nvSpPr>
          <p:cNvPr id="338" name="Google Shape;338;p58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Definition</a:t>
            </a:r>
            <a:r>
              <a:rPr lang="en" sz="1700">
                <a:solidFill>
                  <a:schemeClr val="dk1"/>
                </a:solidFill>
              </a:rPr>
              <a:t>: </a:t>
            </a:r>
            <a:r>
              <a:rPr lang="en" sz="1700">
                <a:solidFill>
                  <a:schemeClr val="dk1"/>
                </a:solidFill>
              </a:rPr>
              <a:t>These tasks require the model to output data in a specific format, usually machine-readable — e.g., JSON, lists, tables, or key-value pairs.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Examples: 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Extracting structured information from a resume.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Converting user input into a database query.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Categorizing text and assigning structured labels (e.g., for sentiment, topic, etc.).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LLM Behavior: </a:t>
            </a:r>
            <a:r>
              <a:rPr lang="en" sz="1700">
                <a:solidFill>
                  <a:schemeClr val="dk1"/>
                </a:solidFill>
              </a:rPr>
              <a:t>The model follows format instructions to produce a consistent structure. Often needs careful prompt design ("format your response as JSON").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9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Questions to ponder</a:t>
            </a:r>
            <a:endParaRPr sz="3000"/>
          </a:p>
        </p:txBody>
      </p:sp>
      <p:sp>
        <p:nvSpPr>
          <p:cNvPr id="344" name="Google Shape;344;p59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Can you get the exact same output each time?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When do you need reproducible outputs?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Why is reproducibility a challenge?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Is there any dependence on hardware?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0"/>
          <p:cNvSpPr txBox="1"/>
          <p:nvPr>
            <p:ph type="ctrTitle"/>
          </p:nvPr>
        </p:nvSpPr>
        <p:spPr>
          <a:xfrm>
            <a:off x="311700" y="2212050"/>
            <a:ext cx="8520600" cy="7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Retrieval Augmented Generation (RAG)</a:t>
            </a:r>
            <a:endParaRPr sz="35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1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RAG</a:t>
            </a:r>
            <a:endParaRPr sz="3000"/>
          </a:p>
        </p:txBody>
      </p:sp>
      <p:sp>
        <p:nvSpPr>
          <p:cNvPr id="355" name="Google Shape;355;p61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What do you understand from the name?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Two steps: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Retrieval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Augmented Generation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2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Why do we need RAG?</a:t>
            </a:r>
            <a:endParaRPr sz="3000"/>
          </a:p>
        </p:txBody>
      </p:sp>
      <p:sp>
        <p:nvSpPr>
          <p:cNvPr id="361" name="Google Shape;361;p62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Consider the following tasks: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Asking an LLM about the procedure for applying leave in your college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Who won yesterday’s IPL final?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Did it rain yesterday?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What seems to be the problem here?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3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Answers</a:t>
            </a:r>
            <a:endParaRPr sz="3000"/>
          </a:p>
        </p:txBody>
      </p:sp>
      <p:sp>
        <p:nvSpPr>
          <p:cNvPr id="367" name="Google Shape;367;p63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LLMs have a fixed memory: Once trained, they don’t know anything that happened after the training cutoff.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Which means they can hallucinate when asked about something that happened after the cutoff date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Consider the example in which you want to know the the procedure for applying a leave in your college or office?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This data is not </a:t>
            </a:r>
            <a:r>
              <a:rPr lang="en" sz="1800">
                <a:solidFill>
                  <a:schemeClr val="dk1"/>
                </a:solidFill>
              </a:rPr>
              <a:t>publicly</a:t>
            </a:r>
            <a:r>
              <a:rPr lang="en" sz="1800">
                <a:solidFill>
                  <a:schemeClr val="dk1"/>
                </a:solidFill>
              </a:rPr>
              <a:t> available. It may be present in the handbook that you receive.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64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So how does RAG work?</a:t>
            </a:r>
            <a:endParaRPr sz="3000"/>
          </a:p>
        </p:txBody>
      </p:sp>
      <p:sp>
        <p:nvSpPr>
          <p:cNvPr id="373" name="Google Shape;373;p64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RAG combines retrieval (fetching relevant documents) with generation (LLM generating responses based on those documents).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Two-step process: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Retrieve: Search a knowledge base (vector database, documents, etc.) for relevant information.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Generate: Pass retrieved content + original query to the LLM to answer accurately.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Analogy</a:t>
            </a:r>
            <a:r>
              <a:rPr lang="en" sz="1800">
                <a:solidFill>
                  <a:schemeClr val="dk1"/>
                </a:solidFill>
              </a:rPr>
              <a:t>: Like a student looking up class notes or a textbook before answering a tough exam question.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65" title="basic_ra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775" y="694875"/>
            <a:ext cx="7938445" cy="375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6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 Deeper Dive into RAG</a:t>
            </a:r>
            <a:endParaRPr sz="3000"/>
          </a:p>
        </p:txBody>
      </p:sp>
      <p:sp>
        <p:nvSpPr>
          <p:cNvPr id="384" name="Google Shape;384;p66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What do you have to begin with?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_____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Can you / do you want to process them all at once?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___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So what can you do?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_____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Now you have ___. Will you store them as is?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_____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7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 Deeper Dive into RAG</a:t>
            </a:r>
            <a:endParaRPr sz="3000"/>
          </a:p>
        </p:txBody>
      </p:sp>
      <p:sp>
        <p:nvSpPr>
          <p:cNvPr id="390" name="Google Shape;390;p67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No. Then how?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_____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Why ____? 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_____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Now we have _____ in the _____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User asks a query. What do we do?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________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________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________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8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 Deeper Dive into RAG</a:t>
            </a:r>
            <a:endParaRPr sz="3000"/>
          </a:p>
        </p:txBody>
      </p:sp>
      <p:sp>
        <p:nvSpPr>
          <p:cNvPr id="396" name="Google Shape;396;p68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Can LLMs understand ___? Will we show users the _____? 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No and No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Get them back into ______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Give LLM: _____ and prompt.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ANSWER!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9"/>
          <p:cNvSpPr txBox="1"/>
          <p:nvPr>
            <p:ph type="ctrTitle"/>
          </p:nvPr>
        </p:nvSpPr>
        <p:spPr>
          <a:xfrm>
            <a:off x="311700" y="2212050"/>
            <a:ext cx="8520600" cy="7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Tools and Tool calling</a:t>
            </a:r>
            <a:endParaRPr sz="35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70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Tools in the context of LLMs</a:t>
            </a:r>
            <a:endParaRPr sz="3000"/>
          </a:p>
        </p:txBody>
      </p:sp>
      <p:sp>
        <p:nvSpPr>
          <p:cNvPr id="407" name="Google Shape;407;p70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Definition</a:t>
            </a:r>
            <a:r>
              <a:rPr lang="en" sz="1800">
                <a:solidFill>
                  <a:schemeClr val="dk1"/>
                </a:solidFill>
              </a:rPr>
              <a:t>: Tools are external functions or APIs that an LLM can call to perform specific tasks it cannot handle internally (e.g., math, web search, database query).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Goal</a:t>
            </a:r>
            <a:r>
              <a:rPr lang="en" sz="1800">
                <a:solidFill>
                  <a:schemeClr val="dk1"/>
                </a:solidFill>
              </a:rPr>
              <a:t>: Make LLMs more useful, interactive, and grounded in real-time data or system states.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Analogy</a:t>
            </a:r>
            <a:r>
              <a:rPr lang="en" sz="1800">
                <a:solidFill>
                  <a:schemeClr val="dk1"/>
                </a:solidFill>
              </a:rPr>
              <a:t>: Just like a programmer might Google something, use a calculator, or access a database, LLMs can use tools to “extend” their capabilities.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71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Why do LLMs need tools?</a:t>
            </a:r>
            <a:endParaRPr sz="3000"/>
          </a:p>
        </p:txBody>
      </p:sp>
      <p:sp>
        <p:nvSpPr>
          <p:cNvPr id="413" name="Google Shape;413;p71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LLMs are stateless and lack real-world awareness.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What is the implication of stateless?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Struggle with accurate arithmetic or code execution.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Ask an LLM about the 235235th prime number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Can’t access real-time or external data by themselves.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Ask an LLM about today’s weather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Tools help LLMs interface with the outside world — like a plugin system.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Ask an LLM to find the customers who bought the most items from a DB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72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Core Concept of Tool Calling</a:t>
            </a:r>
            <a:endParaRPr sz="3000"/>
          </a:p>
        </p:txBody>
      </p:sp>
      <p:sp>
        <p:nvSpPr>
          <p:cNvPr id="419" name="Google Shape;419;p72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So instead of making LLM do things, we want to make them decide what to do and when to do something.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This gives us much more control on what LLMs can access and do by having a deterministic steps/actions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For e.g. you don’t want the LLM to even accidentally delete all rows of a DB even if someone says that.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With these features, tool calling makes LLMs so much more powerful because it’s skill to do a task can plateau over time but to make a decision is much easier.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3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How to use </a:t>
            </a:r>
            <a:r>
              <a:rPr lang="en" sz="3000"/>
              <a:t>Tool Calling</a:t>
            </a:r>
            <a:endParaRPr sz="3000"/>
          </a:p>
        </p:txBody>
      </p:sp>
      <p:sp>
        <p:nvSpPr>
          <p:cNvPr id="425" name="Google Shape;425;p73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  "name": "getWeather",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  "description": "Get current weather for a given city.",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  "parameters":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    "type": "object",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    "properties":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      "city":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        "type": "string",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        "description": "City name"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      }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    },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    "required": ["city"]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  }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}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74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An example</a:t>
            </a:r>
            <a:endParaRPr sz="3000"/>
          </a:p>
        </p:txBody>
      </p:sp>
      <p:sp>
        <p:nvSpPr>
          <p:cNvPr id="431" name="Google Shape;431;p74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User Query: How’s the weather in Paris?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Available Tools: a get_weather function that needs the city and time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Flow: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User query is sent to the LLM with the required schema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The LLM output will be according to scheme say, function_name: get_weather, arguments: {‘city’: ‘Paris’}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We will add the current time to the function using the time module in python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So the function call will become </a:t>
            </a:r>
            <a:r>
              <a:rPr b="1" lang="en">
                <a:solidFill>
                  <a:schemeClr val="dk1"/>
                </a:solidFill>
              </a:rPr>
              <a:t>get_weather({‘city’: ‘Paris’, ‘time’: ‘May 30th 2025’})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Now, we can execute this function dynamically, get an answer and return it to the user.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This is the foundation every tool calling architecture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As mentioned above, tool calls are like steroids for LLMs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Also forms the basis for LLMs as agents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5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Challenges</a:t>
            </a:r>
            <a:endParaRPr sz="3000"/>
          </a:p>
        </p:txBody>
      </p:sp>
      <p:sp>
        <p:nvSpPr>
          <p:cNvPr id="437" name="Google Shape;437;p75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LLM Hallucination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Might call the wrong function or make up arguments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Schema adherence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May spit out incorrect or malformed tool call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Planning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A single LLM call may struggle to plan multi-step tool usage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6"/>
          <p:cNvSpPr txBox="1"/>
          <p:nvPr>
            <p:ph type="ctrTitle"/>
          </p:nvPr>
        </p:nvSpPr>
        <p:spPr>
          <a:xfrm>
            <a:off x="311700" y="2212050"/>
            <a:ext cx="8520600" cy="7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Agents</a:t>
            </a:r>
            <a:endParaRPr sz="35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7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What is an Agent?</a:t>
            </a:r>
            <a:endParaRPr sz="3000"/>
          </a:p>
        </p:txBody>
      </p:sp>
      <p:sp>
        <p:nvSpPr>
          <p:cNvPr id="448" name="Google Shape;448;p77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Definition</a:t>
            </a:r>
            <a:r>
              <a:rPr lang="en" sz="1800">
                <a:solidFill>
                  <a:schemeClr val="dk1"/>
                </a:solidFill>
              </a:rPr>
              <a:t>: An agent is an LLM-based system that can: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Understand a task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Decide which tool to use</a:t>
            </a:r>
            <a:endParaRPr sz="11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Plan a sequence of actions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Execute tools iteratively to achieve a goal.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Analogy</a:t>
            </a:r>
            <a:r>
              <a:rPr lang="en" sz="1800">
                <a:solidFill>
                  <a:schemeClr val="dk1"/>
                </a:solidFill>
              </a:rPr>
              <a:t>: An agent is like a software intern: understands high-level goals, figures out how to solve them step-by-step.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78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Why Agents?</a:t>
            </a:r>
            <a:endParaRPr sz="3000"/>
          </a:p>
        </p:txBody>
      </p:sp>
      <p:sp>
        <p:nvSpPr>
          <p:cNvPr id="454" name="Google Shape;454;p78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The biggest advantage of using agents is to allow scope for rectifying what an LLM generated.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Examples</a:t>
            </a:r>
            <a:r>
              <a:rPr lang="en" sz="1800">
                <a:solidFill>
                  <a:schemeClr val="dk1"/>
                </a:solidFill>
              </a:rPr>
              <a:t>: 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Ask an LLM to build a full stack application. The problem is that it will try to do everything in one shot. If if realizes that it made a mistake, it cannot correct it.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Even in reasoning tasks, an agentic setup will ensure that if one agent made a mistake, it can be rectified in the next iterations before sending out the answer.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79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Classic Example</a:t>
            </a:r>
            <a:endParaRPr sz="3000"/>
          </a:p>
        </p:txBody>
      </p:sp>
      <p:sp>
        <p:nvSpPr>
          <p:cNvPr id="460" name="Google Shape;460;p79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Assume you </a:t>
            </a:r>
            <a:r>
              <a:rPr lang="en" sz="1800">
                <a:solidFill>
                  <a:schemeClr val="dk1"/>
                </a:solidFill>
              </a:rPr>
              <a:t>want</a:t>
            </a:r>
            <a:r>
              <a:rPr lang="en" sz="1800">
                <a:solidFill>
                  <a:schemeClr val="dk1"/>
                </a:solidFill>
              </a:rPr>
              <a:t> an “agent” to generate a response and we need it to be be a perfect json.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What system can you setup?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What will be the roles?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Is agentic the only way?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Are other options also a form of “agentic” system?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80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Comparison</a:t>
            </a:r>
            <a:endParaRPr sz="3000"/>
          </a:p>
        </p:txBody>
      </p:sp>
      <p:graphicFrame>
        <p:nvGraphicFramePr>
          <p:cNvPr id="466" name="Google Shape;466;p80"/>
          <p:cNvGraphicFramePr/>
          <p:nvPr/>
        </p:nvGraphicFramePr>
        <p:xfrm>
          <a:off x="3704450" y="12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{D3800787-3744-4D2C-8453-0291C5D91F17}</a:tableStyleId>
              </a:tblPr>
              <a:tblGrid>
                <a:gridCol w="1544525"/>
                <a:gridCol w="757675"/>
                <a:gridCol w="1243425"/>
                <a:gridCol w="670250"/>
              </a:tblGrid>
              <a:tr h="547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Capability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Plain LLM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Tool Calling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Agent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58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Understand task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87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Use external functions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8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Multi-step reasoning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Limited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87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Select tools dynamically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🚧 Hardcoded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87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Keep state / memory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🚫 (stateless)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 (often)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87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Plan + execute tasks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🚫 No control flow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81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Overview of Typical Agentic Architecture</a:t>
            </a:r>
            <a:endParaRPr sz="3000"/>
          </a:p>
        </p:txBody>
      </p:sp>
      <p:sp>
        <p:nvSpPr>
          <p:cNvPr id="472" name="Google Shape;472;p81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Main components: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LLM – for reasoning and generation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Toolset – available APIs/functions it can use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Planner – (optional) generates a step-by-step plan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Executor/Loop – decides what to do next (often looped until task is done)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Memory (optional) – stores past actions, intermediate results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82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Core Loop of an Agent</a:t>
            </a:r>
            <a:endParaRPr sz="3000"/>
          </a:p>
        </p:txBody>
      </p:sp>
      <p:sp>
        <p:nvSpPr>
          <p:cNvPr id="478" name="Google Shape;478;p82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ReAct loop: Reasoning + Acting + Observing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Receive task (e.g., “Find the cheapest flight from NYC to Paris”)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Decide next action (Search flights? Filter options?)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Call tool (e.g., flight API)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Observe result (list of flights)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Repeat if needed (sort, re-query, book)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Return final result (best flight)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83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Challenges in Agentic Systems</a:t>
            </a:r>
            <a:endParaRPr sz="3000"/>
          </a:p>
        </p:txBody>
      </p:sp>
      <p:sp>
        <p:nvSpPr>
          <p:cNvPr id="484" name="Google Shape;484;p83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LLM hallucination – may make up tools or misinterpret outputs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Infinite loops – agents may get stuck repeating steps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Latency – slower than basic tool use due to multiple steps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Testing is hard – deterministic evaluation is difficult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Maintaining observability requires considerable efforts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84"/>
          <p:cNvSpPr txBox="1"/>
          <p:nvPr>
            <p:ph type="ctrTitle"/>
          </p:nvPr>
        </p:nvSpPr>
        <p:spPr>
          <a:xfrm>
            <a:off x="3611850" y="2217000"/>
            <a:ext cx="19203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Questions?</a:t>
            </a:r>
            <a:endParaRPr sz="30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85"/>
          <p:cNvSpPr txBox="1"/>
          <p:nvPr>
            <p:ph type="ctrTitle"/>
          </p:nvPr>
        </p:nvSpPr>
        <p:spPr>
          <a:xfrm>
            <a:off x="311700" y="37545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Acknowledgements</a:t>
            </a:r>
            <a:endParaRPr sz="3000"/>
          </a:p>
        </p:txBody>
      </p:sp>
      <p:sp>
        <p:nvSpPr>
          <p:cNvPr id="495" name="Google Shape;495;p85"/>
          <p:cNvSpPr txBox="1"/>
          <p:nvPr/>
        </p:nvSpPr>
        <p:spPr>
          <a:xfrm>
            <a:off x="459525" y="1321525"/>
            <a:ext cx="7905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Sudha Sree Yerramsetty (MS Computer Science, University of Illinois Chicago)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